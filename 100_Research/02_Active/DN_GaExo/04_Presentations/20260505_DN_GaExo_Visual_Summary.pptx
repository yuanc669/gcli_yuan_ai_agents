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DN_GaExo: Path 1~7 腸道菌叢與生理數據整合分析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大蒜外泌體治療糖尿病腎病變 (DN) 專案</a:t>
            </a:r>
          </a:p>
          <a:p>
            <a:r>
              <a:t>Path Analysis Visual Summary Report</a:t>
            </a:r>
          </a:p>
          <a:p>
            <a:r>
              <a:t>2026-05-05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1: 成年期自然老化基準線 (Aging Baseline)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ath1_Aging_Biochem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822960"/>
          </a:xfrm>
          <a:prstGeom prst="rect">
            <a:avLst/>
          </a:prstGeom>
        </p:spPr>
      </p:pic>
      <p:pic>
        <p:nvPicPr>
          <p:cNvPr id="5" name="Picture 4" descr="20260502_Aging_Alpha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2011680" cy="838200"/>
          </a:xfrm>
          <a:prstGeom prst="rect">
            <a:avLst/>
          </a:prstGeom>
        </p:spPr>
      </p:pic>
      <p:pic>
        <p:nvPicPr>
          <p:cNvPr id="6" name="Picture 5" descr="20260502_Aging_Beta_PCoA_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371600"/>
            <a:ext cx="2011680" cy="1508760"/>
          </a:xfrm>
          <a:prstGeom prst="rect">
            <a:avLst/>
          </a:prstGeom>
        </p:spPr>
      </p:pic>
      <p:pic>
        <p:nvPicPr>
          <p:cNvPr id="7" name="Picture 6" descr="20260502_Path1_Stacked_Bar_Pl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40480"/>
            <a:ext cx="3657600" cy="2194560"/>
          </a:xfrm>
          <a:prstGeom prst="rect">
            <a:avLst/>
          </a:prstGeom>
        </p:spPr>
      </p:pic>
      <p:pic>
        <p:nvPicPr>
          <p:cNvPr id="8" name="Picture 7" descr="20260502_Path1_Spearman_Heat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3840480"/>
            <a:ext cx="2286000" cy="1905000"/>
          </a:xfrm>
          <a:prstGeom prst="rect">
            <a:avLst/>
          </a:prstGeom>
        </p:spPr>
      </p:pic>
      <p:pic>
        <p:nvPicPr>
          <p:cNvPr id="9" name="Picture 8" descr="20260502_Path1_Venn_Diagr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38404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2: 急性腎損傷期 (Acute Kidney Injury)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ath2_Acute_Biochem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914400"/>
          </a:xfrm>
          <a:prstGeom prst="rect">
            <a:avLst/>
          </a:prstGeom>
        </p:spPr>
      </p:pic>
      <p:pic>
        <p:nvPicPr>
          <p:cNvPr id="5" name="Picture 4" descr="20260502_Acute_Alpha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371600"/>
            <a:ext cx="1828800" cy="762000"/>
          </a:xfrm>
          <a:prstGeom prst="rect">
            <a:avLst/>
          </a:prstGeom>
        </p:spPr>
      </p:pic>
      <p:pic>
        <p:nvPicPr>
          <p:cNvPr id="6" name="Picture 5" descr="20260502_Acute_Beta_PCoA_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371600"/>
            <a:ext cx="1828800" cy="1371600"/>
          </a:xfrm>
          <a:prstGeom prst="rect">
            <a:avLst/>
          </a:prstGeom>
        </p:spPr>
      </p:pic>
      <p:pic>
        <p:nvPicPr>
          <p:cNvPr id="7" name="Picture 6" descr="20260502_Path2_Stacked_Bar_Pl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14800"/>
            <a:ext cx="4114800" cy="2468880"/>
          </a:xfrm>
          <a:prstGeom prst="rect">
            <a:avLst/>
          </a:prstGeom>
        </p:spPr>
      </p:pic>
      <p:pic>
        <p:nvPicPr>
          <p:cNvPr id="8" name="Picture 7" descr="20260502_Path2_Spearman_Heat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4114800"/>
            <a:ext cx="32004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3: 慢性/晚期病程 (Late/Chronic Stage)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ath3_Late_Biochem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914400"/>
          </a:xfrm>
          <a:prstGeom prst="rect">
            <a:avLst/>
          </a:prstGeom>
        </p:spPr>
      </p:pic>
      <p:pic>
        <p:nvPicPr>
          <p:cNvPr id="5" name="Picture 4" descr="20260502_Chronic_Alpha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371600"/>
            <a:ext cx="1828800" cy="762000"/>
          </a:xfrm>
          <a:prstGeom prst="rect">
            <a:avLst/>
          </a:prstGeom>
        </p:spPr>
      </p:pic>
      <p:pic>
        <p:nvPicPr>
          <p:cNvPr id="6" name="Picture 5" descr="20260502_Chronic_Beta_PCoA_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371600"/>
            <a:ext cx="1828800" cy="1371600"/>
          </a:xfrm>
          <a:prstGeom prst="rect">
            <a:avLst/>
          </a:prstGeom>
        </p:spPr>
      </p:pic>
      <p:pic>
        <p:nvPicPr>
          <p:cNvPr id="7" name="Picture 6" descr="20260502_Path3_Stacked_Bar_Pl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14800"/>
            <a:ext cx="4114800" cy="2468880"/>
          </a:xfrm>
          <a:prstGeom prst="rect">
            <a:avLst/>
          </a:prstGeom>
        </p:spPr>
      </p:pic>
      <p:pic>
        <p:nvPicPr>
          <p:cNvPr id="8" name="Picture 7" descr="20260502_Path3_Spearman_Heat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4114800"/>
            <a:ext cx="32004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4: 病程進展動態 (Disease Progression)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ath4_Progression_Biochem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914400"/>
          </a:xfrm>
          <a:prstGeom prst="rect">
            <a:avLst/>
          </a:prstGeom>
        </p:spPr>
      </p:pic>
      <p:pic>
        <p:nvPicPr>
          <p:cNvPr id="5" name="Picture 4" descr="20260502_Progression_Alpha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371600"/>
            <a:ext cx="1828800" cy="783771"/>
          </a:xfrm>
          <a:prstGeom prst="rect">
            <a:avLst/>
          </a:prstGeom>
        </p:spPr>
      </p:pic>
      <p:pic>
        <p:nvPicPr>
          <p:cNvPr id="6" name="Picture 5" descr="20260502_Progression_Beta_PCoA_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371600"/>
            <a:ext cx="1828800" cy="1463040"/>
          </a:xfrm>
          <a:prstGeom prst="rect">
            <a:avLst/>
          </a:prstGeom>
        </p:spPr>
      </p:pic>
      <p:pic>
        <p:nvPicPr>
          <p:cNvPr id="7" name="Picture 6" descr="20260502_Path4_Progression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14800"/>
            <a:ext cx="4114800" cy="3291840"/>
          </a:xfrm>
          <a:prstGeom prst="rect">
            <a:avLst/>
          </a:prstGeom>
        </p:spPr>
      </p:pic>
      <p:pic>
        <p:nvPicPr>
          <p:cNvPr id="8" name="Picture 7" descr="20260502_Path4_Progression_Stacked_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4114800"/>
            <a:ext cx="36576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5: 不同疾病模型驅動因素 (Model Drivers)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ath5_Drivers_Biochem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914400"/>
          </a:xfrm>
          <a:prstGeom prst="rect">
            <a:avLst/>
          </a:prstGeom>
        </p:spPr>
      </p:pic>
      <p:pic>
        <p:nvPicPr>
          <p:cNvPr id="5" name="Picture 4" descr="20260502_Drivers_Alpha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371600"/>
            <a:ext cx="1828800" cy="783771"/>
          </a:xfrm>
          <a:prstGeom prst="rect">
            <a:avLst/>
          </a:prstGeom>
        </p:spPr>
      </p:pic>
      <p:pic>
        <p:nvPicPr>
          <p:cNvPr id="6" name="Picture 5" descr="20260502_Drivers_Beta_PCoA_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371600"/>
            <a:ext cx="1828800" cy="1463040"/>
          </a:xfrm>
          <a:prstGeom prst="rect">
            <a:avLst/>
          </a:prstGeom>
        </p:spPr>
      </p:pic>
      <p:pic>
        <p:nvPicPr>
          <p:cNvPr id="7" name="Picture 6" descr="20260502_Path5_Driver_Comparison_Pl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4114800"/>
            <a:ext cx="4572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6: 大蒜外泌體治療效果 (Therapy Efficacy)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ath6_Therapy_Biochem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914400"/>
          </a:xfrm>
          <a:prstGeom prst="rect">
            <a:avLst/>
          </a:prstGeom>
        </p:spPr>
      </p:pic>
      <p:pic>
        <p:nvPicPr>
          <p:cNvPr id="5" name="Picture 4" descr="20260502_Therapy_Alpha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371600"/>
            <a:ext cx="1828800" cy="783771"/>
          </a:xfrm>
          <a:prstGeom prst="rect">
            <a:avLst/>
          </a:prstGeom>
        </p:spPr>
      </p:pic>
      <p:pic>
        <p:nvPicPr>
          <p:cNvPr id="6" name="Picture 5" descr="20260502_Therapy_Beta_PCoA_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371600"/>
            <a:ext cx="1828800" cy="1463040"/>
          </a:xfrm>
          <a:prstGeom prst="rect">
            <a:avLst/>
          </a:prstGeom>
        </p:spPr>
      </p:pic>
      <p:pic>
        <p:nvPicPr>
          <p:cNvPr id="7" name="Picture 6" descr="20260502_Path6_Therapy_Comparison_Pl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14800"/>
            <a:ext cx="4114800" cy="2057400"/>
          </a:xfrm>
          <a:prstGeom prst="rect">
            <a:avLst/>
          </a:prstGeom>
        </p:spPr>
      </p:pic>
      <p:pic>
        <p:nvPicPr>
          <p:cNvPr id="8" name="Picture 7" descr="20260502_Path6_Therapy_Heat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4114800"/>
            <a:ext cx="36576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7: 全域整合分析 (Global Synthesis)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20260502_Full_Alpha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1645920"/>
          </a:xfrm>
          <a:prstGeom prst="rect">
            <a:avLst/>
          </a:prstGeom>
        </p:spPr>
      </p:pic>
      <p:pic>
        <p:nvPicPr>
          <p:cNvPr id="5" name="Picture 4" descr="20260502_Full_Beta_PCoA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4114800" cy="3291840"/>
          </a:xfrm>
          <a:prstGeom prst="rect">
            <a:avLst/>
          </a:prstGeom>
        </p:spPr>
      </p:pic>
      <p:pic>
        <p:nvPicPr>
          <p:cNvPr id="6" name="Picture 5" descr="20260502_Path7_Global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114800"/>
            <a:ext cx="5486400" cy="6583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