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Microbiome Analysis: Sham vs Sham10W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DN_GaExo Project</a:t>
            </a:r>
          </a:p>
          <a:p>
            <a:r>
              <a:t>Species-level Abundance &amp; Diversity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Alpha Diversity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Diversity Indices Summary:</a:t>
            </a:r>
          </a:p>
          <a:p>
            <a:r>
              <a:t>- Shannon Index: Sham (3.58) vs Sham10W (3.73)</a:t>
            </a:r>
          </a:p>
          <a:p>
            <a:r>
              <a:t>- Observed Species: Sham (158) vs Sham10W (120)</a:t>
            </a:r>
          </a:p>
          <a:p>
            <a:r>
              <a:t>Note: Sham10W group shows a reduction in species richness (Observed species) while maintaining overall Shannon diversity.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Significant Decreases in Sham10W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Species with decreased abundance (p &lt; 0.05):</a:t>
            </a:r>
          </a:p>
          <a:p>
            <a:r>
              <a:t>- Bacteroides acidifaciens: 15.7% -&gt; 7.2%</a:t>
            </a:r>
          </a:p>
          <a:p>
            <a:r>
              <a:t>- UBA7173 sp002491305: 6.9% -&gt; 1.6%</a:t>
            </a:r>
          </a:p>
          <a:p>
            <a:r>
              <a:t>- COE1 sp000403335: 2.5% -&gt; 0.2%</a:t>
            </a:r>
          </a:p>
          <a:p>
            <a:r>
              <a:t>- UBA3282 sp003611805: 4.1% -&gt; 1.5%</a:t>
            </a:r>
          </a:p>
          <a:p>
            <a:r>
              <a:t>- Nanosyncoccus sp003979185: 2.0% -&gt; 0.5%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Significant Increases in Sham10W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Species with increased abundance (p &lt; 0.05):</a:t>
            </a:r>
          </a:p>
          <a:p>
            <a:r>
              <a:t>- Suilimivivens sp000403495: 0% -&gt; 2.8%</a:t>
            </a:r>
          </a:p>
          <a:p>
            <a:r>
              <a:t>- Bacteroides thetaiotaomicron: 0.2% -&gt; 2.1%</a:t>
            </a:r>
          </a:p>
          <a:p>
            <a:r>
              <a:t>- Luxibacter massiliensis: 0% -&gt; 1.3%</a:t>
            </a:r>
          </a:p>
          <a:p>
            <a:r>
              <a:t>- Mucispirillum schaedleri: 0.08% -&gt; 0.5%</a:t>
            </a:r>
          </a:p>
          <a:p>
            <a:r>
              <a:t>- CAG-314 sp900551395: 0.12% -&gt; 0.65%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Other Notable Shifts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Species with downward trends:</a:t>
            </a:r>
          </a:p>
          <a:p>
            <a:r>
              <a:t>- Brotaphodocola sp003611875: 0.89% -&gt; 0.29%</a:t>
            </a:r>
          </a:p>
          <a:p>
            <a:r>
              <a:t>- Lactobacillus johnsonii: 0.36% -&gt; 0.05%</a:t>
            </a:r>
          </a:p>
          <a:p>
            <a:r>
              <a:t>- Hominisplanchenecus_A murintestinalis: 0.15% -&gt; 0.01%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&amp; 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Findings:</a:t>
            </a:r>
          </a:p>
          <a:p>
            <a:r>
              <a:t>1. Progression to 10 weeks (Sham10W) leads to significant intestinal dysbiosis.</a:t>
            </a:r>
          </a:p>
          <a:p>
            <a:r>
              <a:t>2. Marked loss of core species: B. acidifaciens and UBA7173.</a:t>
            </a:r>
          </a:p>
          <a:p>
            <a:r>
              <a:t>3. Proliferation of opportunistic or specific increased species: B. thetaiotaomicron and Suilimivivens.</a:t>
            </a:r>
          </a:p>
          <a:p>
            <a:r>
              <a:t>4. Reduced species richness suggests a less robust microbial ecosystem in the 10W model.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